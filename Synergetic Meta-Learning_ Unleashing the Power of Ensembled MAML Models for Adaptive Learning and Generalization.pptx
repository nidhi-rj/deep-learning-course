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21945600" cx="32918400"/>
  <p:notesSz cx="6881800" cy="9296400"/>
  <p:embeddedFontLst>
    <p:embeddedFont>
      <p:font typeface="Bree Serif"/>
      <p:regular r:id="rId7"/>
    </p:embeddedFont>
    <p:embeddedFont>
      <p:font typeface="Open Sans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912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12" orient="horz"/>
        <p:guide pos="10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boldItalic.fntdata"/><Relationship Id="rId10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BreeSerif-regular.fntdata"/><Relationship Id="rId8" Type="http://schemas.openxmlformats.org/officeDocument/2006/relationships/font" Target="fonts/Open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7175" y="697225"/>
            <a:ext cx="458807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8175" y="4415775"/>
            <a:ext cx="5505425" cy="41833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8175" y="4415775"/>
            <a:ext cx="5505425" cy="41833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7175" y="697225"/>
            <a:ext cx="4588075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2468564" y="6817519"/>
            <a:ext cx="27981275" cy="4703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4937126" y="12435682"/>
            <a:ext cx="23044150" cy="5608637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ctr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None/>
              <a:defRPr/>
            </a:lvl1pPr>
            <a:lvl2pPr lvl="1" algn="ctr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Arial"/>
              <a:buNone/>
              <a:defRPr/>
            </a:lvl2pPr>
            <a:lvl3pPr lvl="2" algn="ctr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None/>
              <a:defRPr/>
            </a:lvl3pPr>
            <a:lvl4pPr lvl="3" algn="ctr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4pPr>
            <a:lvl5pPr lvl="4" algn="ctr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5pPr>
            <a:lvl6pPr lvl="5" algn="ctr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6pPr>
            <a:lvl7pPr lvl="6" algn="ctr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7pPr>
            <a:lvl8pPr lvl="7" algn="ctr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8pPr>
            <a:lvl9pPr lvl="8" algn="ctr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1644651" y="878681"/>
            <a:ext cx="296291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1644651" y="5120481"/>
            <a:ext cx="29629100" cy="14483556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2600326" y="14101762"/>
            <a:ext cx="27981275" cy="4359275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2600326" y="9301163"/>
            <a:ext cx="27981275" cy="48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2pPr>
            <a:lvl3pPr indent="-228600" lvl="2" marL="1371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3pPr>
            <a:lvl4pPr indent="-228600" lvl="3" marL="18288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4pPr>
            <a:lvl5pPr indent="-228600" lvl="4" marL="22860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5pPr>
            <a:lvl6pPr indent="-228600" lvl="5" marL="27432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6pPr>
            <a:lvl7pPr indent="-228600" lvl="6" marL="32004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7pPr>
            <a:lvl8pPr indent="-228600" lvl="7" marL="36576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8pPr>
            <a:lvl9pPr indent="-228600" lvl="8" marL="41148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1644651" y="878681"/>
            <a:ext cx="296291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1644651" y="5120481"/>
            <a:ext cx="14738350" cy="14483556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-3175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/>
            </a:lvl3pPr>
            <a:lvl4pPr indent="-28575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/>
            </a:lvl4pPr>
            <a:lvl5pPr indent="-28575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5pPr>
            <a:lvl6pPr indent="-28575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6pPr>
            <a:lvl7pPr indent="-28575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7pPr>
            <a:lvl8pPr indent="-28575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8pPr>
            <a:lvl9pPr indent="-28575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16535400" y="5120481"/>
            <a:ext cx="14738350" cy="14483556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-3175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/>
            </a:lvl3pPr>
            <a:lvl4pPr indent="-28575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/>
            </a:lvl4pPr>
            <a:lvl5pPr indent="-28575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5pPr>
            <a:lvl6pPr indent="-28575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6pPr>
            <a:lvl7pPr indent="-28575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7pPr>
            <a:lvl8pPr indent="-28575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8pPr>
            <a:lvl9pPr indent="-28575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1646239" y="878681"/>
            <a:ext cx="29625925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1646239" y="4912519"/>
            <a:ext cx="14544675" cy="2047081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sz="1000"/>
            </a:lvl2pPr>
            <a:lvl3pPr indent="-228600" lvl="2" marL="1371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sz="900"/>
            </a:lvl3pPr>
            <a:lvl4pPr indent="-228600" lvl="3" marL="18288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800"/>
            </a:lvl4pPr>
            <a:lvl5pPr indent="-228600" lvl="4" marL="22860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800"/>
            </a:lvl5pPr>
            <a:lvl6pPr indent="-228600" lvl="5" marL="27432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800"/>
            </a:lvl6pPr>
            <a:lvl7pPr indent="-228600" lvl="6" marL="32004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800"/>
            </a:lvl7pPr>
            <a:lvl8pPr indent="-228600" lvl="7" marL="3657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800"/>
            </a:lvl8pPr>
            <a:lvl9pPr indent="-228600" lvl="8" marL="41148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1646239" y="6959601"/>
            <a:ext cx="14544675" cy="12644437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-3048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/>
            </a:lvl2pPr>
            <a:lvl3pPr indent="-285750" lvl="2" marL="1371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/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/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5pPr>
            <a:lvl6pPr indent="-279400" lvl="5" marL="27432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6pPr>
            <a:lvl7pPr indent="-279400" lvl="6" marL="32004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7pPr>
            <a:lvl8pPr indent="-279400" lvl="7" marL="3657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8pPr>
            <a:lvl9pPr indent="-279400" lvl="8" marL="41148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16722727" y="4912519"/>
            <a:ext cx="14549438" cy="2047081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sz="1000"/>
            </a:lvl2pPr>
            <a:lvl3pPr indent="-228600" lvl="2" marL="1371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1" sz="900"/>
            </a:lvl3pPr>
            <a:lvl4pPr indent="-228600" lvl="3" marL="18288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800"/>
            </a:lvl4pPr>
            <a:lvl5pPr indent="-228600" lvl="4" marL="22860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800"/>
            </a:lvl5pPr>
            <a:lvl6pPr indent="-228600" lvl="5" marL="27432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800"/>
            </a:lvl6pPr>
            <a:lvl7pPr indent="-228600" lvl="6" marL="32004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800"/>
            </a:lvl7pPr>
            <a:lvl8pPr indent="-228600" lvl="7" marL="3657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800"/>
            </a:lvl8pPr>
            <a:lvl9pPr indent="-228600" lvl="8" marL="41148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1" sz="8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16722727" y="6959601"/>
            <a:ext cx="14549438" cy="12644437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-3048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/>
            </a:lvl2pPr>
            <a:lvl3pPr indent="-285750" lvl="2" marL="1371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/>
            </a:lvl3pPr>
            <a:lvl4pPr indent="-279400" lvl="3" marL="18288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/>
            </a:lvl4pPr>
            <a:lvl5pPr indent="-279400" lvl="4" marL="22860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5pPr>
            <a:lvl6pPr indent="-279400" lvl="5" marL="27432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6pPr>
            <a:lvl7pPr indent="-279400" lvl="6" marL="32004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7pPr>
            <a:lvl8pPr indent="-279400" lvl="7" marL="3657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8pPr>
            <a:lvl9pPr indent="-279400" lvl="8" marL="41148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1644651" y="878681"/>
            <a:ext cx="296291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1646239" y="873919"/>
            <a:ext cx="10829925" cy="3718719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12869863" y="873919"/>
            <a:ext cx="18402300" cy="18730119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-3302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1pPr>
            <a:lvl2pPr indent="-3175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1646239" y="4592637"/>
            <a:ext cx="10829925" cy="150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-228600" lvl="0" marL="4572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1pPr>
            <a:lvl2pPr indent="-228600" lvl="1" marL="9144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/>
            </a:lvl3pPr>
            <a:lvl4pPr indent="-228600" lvl="3" marL="1828800" algn="l"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4pPr>
            <a:lvl5pPr indent="-228600" lvl="4" marL="2286000" algn="l"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5pPr>
            <a:lvl6pPr indent="-228600" lvl="5" marL="2743200" algn="l"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6pPr>
            <a:lvl7pPr indent="-228600" lvl="6" marL="3200400" algn="l"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7pPr>
            <a:lvl8pPr indent="-228600" lvl="7" marL="3657600" algn="l"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8pPr>
            <a:lvl9pPr indent="-228600" lvl="8" marL="4114800" algn="l"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451601" y="15362238"/>
            <a:ext cx="19751675" cy="1812925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6451601" y="1960563"/>
            <a:ext cx="19751675" cy="131675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6451601" y="17175162"/>
            <a:ext cx="19751675" cy="2575719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-228600" lvl="0" marL="45720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/>
            </a:lvl1pPr>
            <a:lvl2pPr indent="-228600" lvl="1" marL="9144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/>
            </a:lvl3pPr>
            <a:lvl4pPr indent="-228600" lvl="3" marL="1828800" algn="l"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4pPr>
            <a:lvl5pPr indent="-228600" lvl="4" marL="2286000" algn="l"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5pPr>
            <a:lvl6pPr indent="-228600" lvl="5" marL="2743200" algn="l"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6pPr>
            <a:lvl7pPr indent="-228600" lvl="6" marL="3200400" algn="l"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7pPr>
            <a:lvl8pPr indent="-228600" lvl="7" marL="3657600" algn="l"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8pPr>
            <a:lvl9pPr indent="-228600" lvl="8" marL="4114800" algn="l"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450"/>
              <a:buFont typeface="Arial"/>
              <a:buNone/>
              <a:defRPr sz="4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1644651" y="878681"/>
            <a:ext cx="296291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9217423" y="-2452291"/>
            <a:ext cx="14483556" cy="29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8207437" y="6537722"/>
            <a:ext cx="18725356" cy="7407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3316685" y="-793354"/>
            <a:ext cx="18725356" cy="22069425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644651" y="878681"/>
            <a:ext cx="296291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6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6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6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6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6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6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6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6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601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644651" y="5120481"/>
            <a:ext cx="29629100" cy="14483556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-717550" lvl="0" marL="457200" marR="0" rtl="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Arial"/>
              <a:buChar char="•"/>
              <a:defRPr b="0" i="0" sz="7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657225" lvl="1" marL="914400" marR="0" rtl="0" algn="l"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Arial"/>
              <a:buChar char="–"/>
              <a:defRPr b="0" i="0" sz="6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596900" lvl="2" marL="1371600" marR="0" rtl="0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Char char="•"/>
              <a:defRPr b="0" i="0" sz="5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33400" lvl="3" marL="1828800" marR="0" rtl="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–"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533400" lvl="4" marL="2286000" marR="0" rtl="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»"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33400" lvl="5" marL="2743200" marR="0" rtl="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»"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33400" lvl="6" marL="3200400" marR="0" rtl="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»"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33400" lvl="7" marL="3657600" marR="0" rtl="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»"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33400" lvl="8" marL="4114800" marR="0" rtl="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»"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1644651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1245851" y="19985038"/>
            <a:ext cx="10426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23590252" y="19985038"/>
            <a:ext cx="7683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3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-5400000">
            <a:off x="-11074400" y="10972800"/>
            <a:ext cx="142748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5400000">
            <a:off x="29718000" y="10972800"/>
            <a:ext cx="142748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6850" y="22453600"/>
            <a:ext cx="29984700" cy="146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1466850" y="23025100"/>
            <a:ext cx="164592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Template ID: pragmaticgraphite  Size: 36x24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13.png"/><Relationship Id="rId13" Type="http://schemas.openxmlformats.org/officeDocument/2006/relationships/image" Target="../media/image4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air.berkeley.edu/blog/2017/07/18/learning-to-learn/" TargetMode="External"/><Relationship Id="rId4" Type="http://schemas.openxmlformats.org/officeDocument/2006/relationships/hyperlink" Target="https://bair.berkeley.edu/blog/2017/07/18/learning-to-learn/" TargetMode="External"/><Relationship Id="rId9" Type="http://schemas.openxmlformats.org/officeDocument/2006/relationships/image" Target="../media/image7.jpg"/><Relationship Id="rId15" Type="http://schemas.openxmlformats.org/officeDocument/2006/relationships/image" Target="../media/image12.png"/><Relationship Id="rId14" Type="http://schemas.openxmlformats.org/officeDocument/2006/relationships/image" Target="../media/image9.png"/><Relationship Id="rId5" Type="http://schemas.openxmlformats.org/officeDocument/2006/relationships/hyperlink" Target="https://doi.org/10.1007/978-3-031-20891-1_31" TargetMode="External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2116"/>
            <a:ext cx="32918400" cy="4445706"/>
          </a:xfrm>
          <a:prstGeom prst="rect">
            <a:avLst/>
          </a:prstGeom>
          <a:solidFill>
            <a:srgbClr val="4B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619425" y="609500"/>
            <a:ext cx="24384000" cy="19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chemeClr val="lt1"/>
              </a:buClr>
              <a:buSzPts val="5700"/>
              <a:buFont typeface="Bree Serif"/>
              <a:buNone/>
            </a:pPr>
            <a:r>
              <a:rPr lang="en-US" sz="57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Synergetic Meta-Learning: Unleashing the Power of Ensembled MAML Models for Adaptive Learning and Generalization</a:t>
            </a:r>
            <a:endParaRPr sz="57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267200" y="2905579"/>
            <a:ext cx="24384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lang="en-US" sz="37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Kevin Xu | Prince Kadiwar | Kamalendu Menon | Nidhi Roy John</a:t>
            </a:r>
            <a:br>
              <a:rPr lang="en-US" sz="37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37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University of Ottawa 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0" y="21336000"/>
            <a:ext cx="32918400" cy="609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458839" y="5524364"/>
            <a:ext cx="7200000" cy="51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Meta-learning, often referred as “learning to learn”, is a 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category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that aim to enable models to adapt to new tasks rapidly and with minimal data.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PROBLEM: 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MAML has grown in prominence because to its capacity to learn a proper initialization that enables for quick adaptation to different jobs.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MAML may not necessarily generalize well to a wide range of activities,  particularly ones with large differences.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MAML is known for its difficulty to converge during its training.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MOTIVATION: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merging of different models, known as ensembling, has been shown to improve overall model performance, stability, and resilience. 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Ensembling within MAML training process may help in: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Increase the generalization ability of MAML to diverse tasks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Prevent the disruption of extreme data during the training process to decrease the number of training iterations and stable the convergence of the algorithm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8725640" y="5524364"/>
            <a:ext cx="72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Model-Agnostic Meta-Learning (MAML) 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aims to train a model in such a way that it can quickly adapt to new, unseen tasks with only a few examples, by learning a good initialization of its parameters.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6992440" y="5524364"/>
            <a:ext cx="7200000" cy="19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pen Sans"/>
              <a:buChar char="●"/>
            </a:pPr>
            <a:r>
              <a:rPr lang="en-US" sz="1600">
                <a:latin typeface="Open Sans"/>
                <a:ea typeface="Open Sans"/>
                <a:cs typeface="Open Sans"/>
                <a:sym typeface="Open Sans"/>
              </a:rPr>
              <a:t>Dataset: MiniImageNet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pen Sans"/>
              <a:buChar char="●"/>
            </a:pPr>
            <a:r>
              <a:rPr lang="en-US" sz="1600">
                <a:latin typeface="Open Sans"/>
                <a:ea typeface="Open Sans"/>
                <a:cs typeface="Open Sans"/>
                <a:sym typeface="Open Sans"/>
              </a:rPr>
              <a:t>Split: 80 classes in training set, 20 classes in testing set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pen Sans"/>
              <a:buChar char="●"/>
            </a:pPr>
            <a:r>
              <a:rPr lang="en-US" sz="1600">
                <a:latin typeface="Open Sans"/>
                <a:ea typeface="Open Sans"/>
                <a:cs typeface="Open Sans"/>
                <a:sym typeface="Open Sans"/>
              </a:rPr>
              <a:t>Problem setup: 5-way 1-shot in support set, 15 images in query set, 5 </a:t>
            </a:r>
            <a:r>
              <a:rPr lang="en-US" sz="1600">
                <a:latin typeface="Open Sans"/>
                <a:ea typeface="Open Sans"/>
                <a:cs typeface="Open Sans"/>
                <a:sym typeface="Open Sans"/>
              </a:rPr>
              <a:t>gradient</a:t>
            </a:r>
            <a:r>
              <a:rPr lang="en-US" sz="1600">
                <a:latin typeface="Open Sans"/>
                <a:ea typeface="Open Sans"/>
                <a:cs typeface="Open Sans"/>
                <a:sym typeface="Open Sans"/>
              </a:rPr>
              <a:t> updates in training, 10 gradient updates in testing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pen Sans"/>
              <a:buChar char="●"/>
            </a:pPr>
            <a:r>
              <a:rPr lang="en-US" sz="1600">
                <a:latin typeface="Open Sans"/>
                <a:ea typeface="Open Sans"/>
                <a:cs typeface="Open Sans"/>
                <a:sym typeface="Open Sans"/>
              </a:rPr>
              <a:t>Preprocessing: Image Normalization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pen Sans"/>
              <a:buChar char="●"/>
            </a:pPr>
            <a:r>
              <a:rPr lang="en-US" sz="1600">
                <a:latin typeface="Open Sans"/>
                <a:ea typeface="Open Sans"/>
                <a:cs typeface="Open Sans"/>
                <a:sym typeface="Open Sans"/>
              </a:rPr>
              <a:t>Batch Loading: 4 tasks each batch/iteration, 2500 batches/iterations for 1 epoch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25259241" y="5524364"/>
            <a:ext cx="7200000" cy="3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Conclusions: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Ensembling within MAML increased the performance for around 1%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Ensembling within MAML stabilized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the convergence process, helping the algorithm increase the 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accuracy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in earlier iterations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Ensembling within MAML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costs much more computational resources since multiple models are trained for each task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Future Work: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Examine the algorithm with different settings: different number of ways/shots, different number of ensembles, different number of tasks for each iteration, different dataset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different ensembling methods to replace the simple weighted average idea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Try the local ensembling idea on other types of meta-learners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58839" y="12074020"/>
            <a:ext cx="7200000" cy="54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EEML: Ensemble Embedded Meta-learning (Li, Ren, &amp; Wang, 2022)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EEML employs gradient-based meta-learning, organizes tasks into clusters, and utilizes a weighted voting mechanism during meta-test.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Advantages: Multi-expert cooperation enhances few-shot learning. Combines generic meta-learning with ensemble learning for improved results.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Disadvantages: Hyper parameter tuning may impact effectiveness. Higher computation complexity as training several MAML learners in 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parallel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    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Model-Agnostic Meta-Learning for Fast Adaptation of Deep Networks (Finn, Abbeel, &amp; Levine, 2017)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Introduce a versatile meta-learning approach that quickly adapts diverse neural network architectures to novel tasks.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Advantages: Adapting any 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gradient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based methods. Fast adaptation with limited data. Generalization across different tasks.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Disadvantages: Sensitivity to hyperparameters. Requires a modest amount of task-specific data. Complexity in implementation.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25259196" y="17215245"/>
            <a:ext cx="7200000" cy="4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C. Finn, P. Abbeel, and S. Levine. Model-agnostic meta-learning for fast adaptation of deep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</a:rPr>
              <a:t>networks, 2017.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rgbClr val="374151"/>
                </a:solidFill>
              </a:rPr>
              <a:t>Finn, C. (2017, July 18). Learning to Learn. Berkeley Artificial Intelligence Research Blog. Retrieved from</a:t>
            </a:r>
            <a:r>
              <a:rPr lang="en-US" sz="1200">
                <a:solidFill>
                  <a:srgbClr val="37415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200">
                <a:solidFill>
                  <a:schemeClr val="hlink"/>
                </a:solidFill>
                <a:uFill>
                  <a:noFill/>
                </a:uFill>
                <a:hlinkClick r:id="rId4"/>
              </a:rPr>
              <a:t>https://bair.berkeley.edu/blog/2017/07/18/learning-to-learn/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rgbClr val="374151"/>
                </a:solidFill>
              </a:rPr>
              <a:t>Li, G., Ren, B., &amp; Wang, H. (2022). EEML: Ensemble Embedded Meta-Learning. In R. Chbeir et al. (Eds.), WISE 2022, LNCS 13724, pp. 433–442. Springer Nature Switzerland. </a:t>
            </a:r>
            <a:r>
              <a:rPr lang="en-US" sz="1200" u="sng">
                <a:solidFill>
                  <a:schemeClr val="hlink"/>
                </a:solidFill>
                <a:hlinkClick r:id="rId5"/>
              </a:rPr>
              <a:t>https://doi.org/10.1007/978-3-031-20891-1_31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L. Long. Maml-pytorch implementation. https://github.com/dragen1860/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</a:rPr>
              <a:t>MAML-Pytorch, 2018.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</a:rPr>
              <a:t>H. Gharoun, F. Momenifar, F. Chen, and A. H. Gandomi. Meta-learning approaches for fewshot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</a:rPr>
              <a:t>learning: A survey of recent advances, 2023.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831598" y="11160350"/>
            <a:ext cx="62058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rotWithShape="0" algn="tl" dir="10800000" dist="444500">
              <a:srgbClr val="B41E1E"/>
            </a:outerShdw>
          </a:effectLst>
        </p:spPr>
        <p:txBody>
          <a:bodyPr anchorCtr="0" anchor="t" bIns="45700" lIns="18287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Literature Review</a:t>
            </a:r>
            <a:endParaRPr sz="2400">
              <a:solidFill>
                <a:srgbClr val="B41E1E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831604" y="4863950"/>
            <a:ext cx="66081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rotWithShape="0" algn="tl" dir="10800000" dist="444500">
              <a:srgbClr val="B41E1E"/>
            </a:outerShdw>
          </a:effectLst>
        </p:spPr>
        <p:txBody>
          <a:bodyPr anchorCtr="0" anchor="t" bIns="45700" lIns="18287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Background and Motivation</a:t>
            </a:r>
            <a:endParaRPr sz="2400">
              <a:solidFill>
                <a:srgbClr val="B41E1E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9098389" y="4861850"/>
            <a:ext cx="56412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rotWithShape="0" algn="tl" dir="10800000" dist="444500">
              <a:srgbClr val="B41E1E"/>
            </a:outerShdw>
          </a:effectLst>
        </p:spPr>
        <p:txBody>
          <a:bodyPr anchorCtr="0" anchor="t" bIns="45700" lIns="18287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Original MAML Overview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7373124" y="4861850"/>
            <a:ext cx="54384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rotWithShape="0" algn="tl" dir="10800000" dist="444500">
              <a:srgbClr val="B41E1E"/>
            </a:outerShdw>
          </a:effectLst>
        </p:spPr>
        <p:txBody>
          <a:bodyPr anchorCtr="0" anchor="t" bIns="45700" lIns="18287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Experimental </a:t>
            </a:r>
            <a:r>
              <a:rPr b="0" i="0" lang="en-US" sz="2400" u="none" cap="none" strike="noStrike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Results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25627141" y="4861850"/>
            <a:ext cx="47076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rotWithShape="0" algn="tl" dir="10800000" dist="444500">
              <a:srgbClr val="B41E1E"/>
            </a:outerShdw>
          </a:effectLst>
        </p:spPr>
        <p:txBody>
          <a:bodyPr anchorCtr="0" anchor="t" bIns="45700" lIns="18287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Conclusion and F</a:t>
            </a:r>
            <a:r>
              <a:rPr lang="en-US" sz="2400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uture Work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25659013" y="16448036"/>
            <a:ext cx="33444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rotWithShape="0" algn="tl" dir="10800000" dist="444500">
              <a:srgbClr val="B41E1E"/>
            </a:outerShdw>
          </a:effectLst>
        </p:spPr>
        <p:txBody>
          <a:bodyPr anchorCtr="0" anchor="t" bIns="45700" lIns="18287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References</a:t>
            </a:r>
            <a:endParaRPr/>
          </a:p>
        </p:txBody>
      </p:sp>
      <p:pic>
        <p:nvPicPr>
          <p:cNvPr id="104" name="Google Shape;10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2125"/>
            <a:ext cx="4533264" cy="444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2313" y="17456750"/>
            <a:ext cx="5953064" cy="30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3"/>
          <p:cNvSpPr txBox="1"/>
          <p:nvPr/>
        </p:nvSpPr>
        <p:spPr>
          <a:xfrm>
            <a:off x="9157950" y="10824700"/>
            <a:ext cx="60627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rotWithShape="0" algn="tl" dir="10800000" dist="444500">
              <a:srgbClr val="B41E1E"/>
            </a:outerShdw>
          </a:effectLst>
        </p:spPr>
        <p:txBody>
          <a:bodyPr anchorCtr="0" anchor="t" bIns="45700" lIns="18287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Research Approach</a:t>
            </a:r>
            <a:endParaRPr sz="2400">
              <a:solidFill>
                <a:srgbClr val="B41E1E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pic>
        <p:nvPicPr>
          <p:cNvPr id="107" name="Google Shape;107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99175" y="7831488"/>
            <a:ext cx="7586574" cy="4708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799138" y="12914075"/>
            <a:ext cx="7586574" cy="426974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8725640" y="11593614"/>
            <a:ext cx="72000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Methodology</a:t>
            </a: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 this research we explore how 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ensembling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techniques can be utilized when it comes to Meta-Learning/Few-Shot Learning. The implementation for this is quite unique in nature as compared with the traditional machine learning models as MAML involves local as well as global parameters.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Approach: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Initialize the global parameters for MAML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 each 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batch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of task, initialize N models with identical local parameters. Within each task these local parameters are averaged out so that it does not overfit a particular task.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These local parameters are then used to update the global 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parameters. This helps MAML generalize better to new unseen tasks.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have also tried experimenting with different model architectures including changing the base neural network and learning rates.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25627138" y="9952999"/>
            <a:ext cx="3344400" cy="461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rotWithShape="0" algn="tl" dir="10800000" dist="444500">
              <a:srgbClr val="B41E1E"/>
            </a:outerShdw>
          </a:effectLst>
        </p:spPr>
        <p:txBody>
          <a:bodyPr anchorCtr="0" anchor="t" bIns="45700" lIns="18287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B41E1E"/>
                </a:solidFill>
                <a:latin typeface="Bree Serif"/>
                <a:ea typeface="Bree Serif"/>
                <a:cs typeface="Bree Serif"/>
                <a:sym typeface="Bree Serif"/>
              </a:rPr>
              <a:t>Terminology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25259266" y="10729227"/>
            <a:ext cx="7200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25" spcFirstLastPara="1" rIns="60925" wrap="square" tIns="30450">
            <a:spAutoFit/>
          </a:bodyPr>
          <a:lstStyle/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N-way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Number of classes to classify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K-shot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Number of samples for each one of the N classes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Support Set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The N-way K-shot “training set” for the learner to learn in the training process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Query Set</a:t>
            </a: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The “testing set” in training to reflect the learner’s learning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2" name="Google Shape;112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168899" y="12383375"/>
            <a:ext cx="7200000" cy="3445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088356" y="17806088"/>
            <a:ext cx="10863995" cy="135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525275" y="7186676"/>
            <a:ext cx="3344400" cy="1996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983351" y="6561425"/>
            <a:ext cx="4378525" cy="39560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13"/>
          <p:cNvGrpSpPr/>
          <p:nvPr/>
        </p:nvGrpSpPr>
        <p:grpSpPr>
          <a:xfrm>
            <a:off x="9908127" y="15950539"/>
            <a:ext cx="5565469" cy="4928219"/>
            <a:chOff x="9649120" y="15740449"/>
            <a:chExt cx="5901250" cy="5438935"/>
          </a:xfrm>
        </p:grpSpPr>
        <p:pic>
          <p:nvPicPr>
            <p:cNvPr id="117" name="Google Shape;117;p13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9649124" y="15740449"/>
              <a:ext cx="5641199" cy="4796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649120" y="20685375"/>
              <a:ext cx="5901250" cy="4940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